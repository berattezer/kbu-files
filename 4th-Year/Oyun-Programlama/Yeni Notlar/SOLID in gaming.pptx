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58" r:id="rId5"/>
    <p:sldId id="259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826" y="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A7D9A-4365-76C3-27C6-B039371D60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53E052-9A66-6452-6F89-D0056D67EF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B3ADD9-0779-F9EE-5735-638BF6334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9F5C5-EA82-460F-9B46-B93CAA718954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92DC58-11F7-12E5-F66E-426C01DCC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96C82-3017-1A97-7F68-6892395C3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D9FD2-CD1A-46E2-9E75-C9AA9DB6A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359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A7C2A-7FEB-D0DA-D084-BF182808E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58598-7CF6-AC2A-213A-ADD2360AB5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B880A5-88F8-DB62-3B73-9610E3970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9F5C5-EA82-460F-9B46-B93CAA718954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DB0456-FF7A-74D3-246D-8BA9A8D7A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AFF22-636E-2EAF-43E2-EAB59B844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D9FD2-CD1A-46E2-9E75-C9AA9DB6A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590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3D292-4358-CCE6-A70A-3714005F6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CD0B89-AD98-0CD1-9C2B-913A61E4EC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BA4055-C85F-EB86-EB2B-68526A1A4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9F5C5-EA82-460F-9B46-B93CAA718954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815DD6-54B3-4AF1-10F3-1976A334E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553EC-F0BB-52A4-28CA-6A9073FF2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D9FD2-CD1A-46E2-9E75-C9AA9DB6A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028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9F6FA-A245-212E-E172-08F1A29A3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F0976-B51B-06FB-F6DF-4BF2CE8721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507A4E-CC34-207D-056C-F76757D2B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A5A23B-0A8D-F7BD-1424-4B066FFD6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9F5C5-EA82-460F-9B46-B93CAA718954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892983-4FF2-370D-1602-BE9CC649F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88FDD2-14D5-0A87-8989-F1C017DD2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D9FD2-CD1A-46E2-9E75-C9AA9DB6A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237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E1FB3-3091-CA77-A696-EEACBD7F7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148BE6-AA35-6828-B5A9-347531C6B6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8247A0-6FBC-741A-0825-8609528E8E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F71282-D096-3396-5CB1-D1BAA72AC2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FB2CC0-0F20-1302-25C5-64B9304134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E0756C-BB8A-546C-1B9E-830AAB8F5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9F5C5-EA82-460F-9B46-B93CAA718954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CCC630-12D6-CDCE-0F20-5BE1F79EC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17DC06-3406-57FA-CC35-5DE5EB0A9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D9FD2-CD1A-46E2-9E75-C9AA9DB6A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034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96CA9-569C-4976-8927-39C3BAFF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0867D1-42AE-E8C2-6EBC-3399C9211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9F5C5-EA82-460F-9B46-B93CAA718954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074E83-7B37-759E-63A6-521B1E637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E18EB8-905A-738E-0B4B-CD53FAD41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D9FD2-CD1A-46E2-9E75-C9AA9DB6A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782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12DA5A-FC3C-43FC-68CD-1D2C6D357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9F5C5-EA82-460F-9B46-B93CAA718954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8D16C8-E7E8-C35C-A0D1-19F7FD1A3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DFE748-B6C1-A360-DCBD-B0B481E73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D9FD2-CD1A-46E2-9E75-C9AA9DB6A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423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9DC8B-25BC-58C6-3A75-0EE0A1C77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EE2AB-4EB4-9D65-A78A-1F698A62F7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878278-39A2-43B3-F4BD-FAF8F1E4F7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493B4A-D002-C789-E1CF-308877AFB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9F5C5-EA82-460F-9B46-B93CAA718954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D113C6-55B1-4803-2C45-F7953D507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2A5552-B7BD-1B64-FDE0-F1DAAC907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D9FD2-CD1A-46E2-9E75-C9AA9DB6A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706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BDCCD-B7DF-8232-1555-61EFB5BCE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ACA176-3EA2-C345-AF62-E10FE3F376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B44A4C-01EB-24D9-514C-A576881FF7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CA152D-C3EF-0C2B-2B57-1A349ACFA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9F5C5-EA82-460F-9B46-B93CAA718954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677A2A-58BF-33AF-7BED-94225ABA7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DA7A7D-5124-9FB5-ABDD-A65EE2860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D9FD2-CD1A-46E2-9E75-C9AA9DB6A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6588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469F0-4F6C-D242-2404-75C484C99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8C86B7-5697-BEF2-1A04-484DFA63B8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600B83-BF9C-AF38-A10F-41883D65A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9F5C5-EA82-460F-9B46-B93CAA718954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B700F1-2FB3-FB24-5284-3C494635C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799F1D-CC95-25E8-AA6E-AF4A3A78F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D9FD2-CD1A-46E2-9E75-C9AA9DB6A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751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15B83A-8F7E-C31A-14BF-358CC81A6E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7095AC-1796-DA17-2479-99AF800B2C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AF6D8-7265-7D2D-3FD1-3141BF77C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9F5C5-EA82-460F-9B46-B93CAA718954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92DDFD-94FA-80C5-811D-F4A8D1FF8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F7F65D-AA00-4ABB-0308-71B419DF0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D9FD2-CD1A-46E2-9E75-C9AA9DB6A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669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A2CCD1-C4A9-F310-2940-AE1A6D6D8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445423-36D9-C70B-2096-25DCDA9153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5B0096-B318-7529-9EF8-5B8A26A4AD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39F5C5-EA82-460F-9B46-B93CAA718954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4BEEAF-2114-3E0C-22D4-D999919E9B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C857D6-D128-90B8-C436-904225470C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CD9FD2-CD1A-46E2-9E75-C9AA9DB6A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490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igitalocean.com/community/conceptual-articles/s-o-l-i-d-the-first-five-principles-of-object-oriented-design#open-closed-principle" TargetMode="External"/><Relationship Id="rId2" Type="http://schemas.openxmlformats.org/officeDocument/2006/relationships/hyperlink" Target="https://www.digitalocean.com/community/conceptual-articles/s-o-l-i-d-the-first-five-principles-of-object-oriented-design#single-responsibility-principl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digitalocean.com/community/conceptual-articles/s-o-l-i-d-the-first-five-principles-of-object-oriented-design#dependency-inversion-principle" TargetMode="External"/><Relationship Id="rId5" Type="http://schemas.openxmlformats.org/officeDocument/2006/relationships/hyperlink" Target="https://www.digitalocean.com/community/conceptual-articles/s-o-l-i-d-the-first-five-principles-of-object-oriented-design#interface-segregation-principle" TargetMode="External"/><Relationship Id="rId4" Type="http://schemas.openxmlformats.org/officeDocument/2006/relationships/hyperlink" Target="https://www.digitalocean.com/community/conceptual-articles/s-o-l-i-d-the-first-five-principles-of-object-oriented-design#liskov-substitution-principle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7E7D7-781E-8B0D-8EE2-E1291A3335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SOLID principle in Gaming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8FCD21-1898-81AD-4434-0316EBBD32D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6249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4A066-9F7E-7D20-E019-89082F49F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SOLID principles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B45F2-E435-99E2-7561-01630173E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621" y="1787918"/>
            <a:ext cx="11415859" cy="4867406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sz="2000" b="0" i="0" dirty="0">
                <a:effectLst/>
                <a:latin typeface="__Inter_1fc7a2"/>
              </a:rPr>
              <a:t>These principles establish practices for developing software with considerations for maintaining and extending it as the project grows. </a:t>
            </a:r>
          </a:p>
          <a:p>
            <a:pPr marL="0" indent="0" algn="l">
              <a:buNone/>
            </a:pPr>
            <a:r>
              <a:rPr lang="en-US" sz="2000" b="0" i="0" dirty="0">
                <a:effectLst/>
                <a:latin typeface="__Inter_1fc7a2"/>
              </a:rPr>
              <a:t>SOLID stands for: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i="0" u="none" strike="noStrike" dirty="0">
                <a:solidFill>
                  <a:srgbClr val="467886"/>
                </a:solidFill>
                <a:effectLst/>
                <a:latin typeface="__Inter_1fc7a2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</a:t>
            </a:r>
            <a:r>
              <a:rPr lang="en-US" sz="2000" b="0" i="0" u="none" strike="noStrike" dirty="0">
                <a:effectLst/>
                <a:latin typeface="__Inter_1fc7a2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 -  Single-responsibility Principle</a:t>
            </a:r>
            <a:endParaRPr lang="en-US" sz="2000" b="0" i="0" u="none" strike="noStrike" dirty="0">
              <a:effectLst/>
              <a:latin typeface="__Inter_1fc7a2"/>
            </a:endParaRPr>
          </a:p>
          <a:p>
            <a:pPr marL="457200" lvl="1" indent="0">
              <a:buNone/>
            </a:pPr>
            <a:r>
              <a:rPr lang="en-US" sz="1800" dirty="0"/>
              <a:t>Each class should have only one reason to change.</a:t>
            </a:r>
            <a:endParaRPr lang="en-US" sz="1800" b="0" i="0" dirty="0">
              <a:effectLst/>
              <a:latin typeface="__Inter_1fc7a2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i="0" u="none" strike="noStrike" dirty="0">
                <a:solidFill>
                  <a:srgbClr val="467886"/>
                </a:solidFill>
                <a:effectLst/>
                <a:latin typeface="__Inter_1fc7a2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</a:t>
            </a:r>
            <a:r>
              <a:rPr lang="en-US" sz="2000" b="0" i="0" u="none" strike="noStrike" dirty="0">
                <a:effectLst/>
                <a:latin typeface="__Inter_1fc7a2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 - Open-closed Principle</a:t>
            </a:r>
            <a:endParaRPr lang="en-US" sz="2000" b="0" i="0" u="none" strike="noStrike" dirty="0">
              <a:effectLst/>
              <a:latin typeface="__Inter_1fc7a2"/>
            </a:endParaRPr>
          </a:p>
          <a:p>
            <a:pPr marL="457200" lvl="1" indent="0">
              <a:buNone/>
            </a:pPr>
            <a:r>
              <a:rPr lang="en-US" sz="1800" dirty="0"/>
              <a:t>Code should be open for extension but closed for modification.</a:t>
            </a:r>
            <a:endParaRPr lang="en-US" sz="1800" b="0" i="0" dirty="0">
              <a:effectLst/>
              <a:latin typeface="__Inter_1fc7a2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i="0" u="none" strike="noStrike" dirty="0">
                <a:solidFill>
                  <a:srgbClr val="467886"/>
                </a:solidFill>
                <a:effectLst/>
                <a:latin typeface="__Inter_1fc7a2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</a:t>
            </a:r>
            <a:r>
              <a:rPr lang="en-US" sz="2000" b="0" i="0" u="none" strike="noStrike" dirty="0">
                <a:solidFill>
                  <a:srgbClr val="467886"/>
                </a:solidFill>
                <a:effectLst/>
                <a:latin typeface="__Inter_1fc7a2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 - </a:t>
            </a:r>
            <a:r>
              <a:rPr lang="en-US" sz="2000" b="0" i="0" u="none" strike="noStrike" dirty="0">
                <a:effectLst/>
                <a:latin typeface="__Inter_1fc7a2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2000" b="0" i="0" u="none" strike="noStrike" dirty="0" err="1">
                <a:effectLst/>
                <a:latin typeface="__Inter_1fc7a2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Liskov</a:t>
            </a:r>
            <a:r>
              <a:rPr lang="en-US" sz="2000" b="0" i="0" u="none" strike="noStrike" dirty="0">
                <a:effectLst/>
                <a:latin typeface="__Inter_1fc7a2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Substitution Principle</a:t>
            </a:r>
            <a:endParaRPr lang="en-US" sz="2000" b="0" i="0" u="none" strike="noStrike" dirty="0">
              <a:effectLst/>
              <a:latin typeface="__Inter_1fc7a2"/>
            </a:endParaRPr>
          </a:p>
          <a:p>
            <a:pPr marL="0" indent="0">
              <a:buNone/>
            </a:pPr>
            <a:r>
              <a:rPr lang="en-US" sz="2000" dirty="0"/>
              <a:t>        A subclass should be able to replace its parent class without breaking the system.</a:t>
            </a:r>
            <a:endParaRPr lang="en-US" sz="2000" b="0" i="0" dirty="0">
              <a:effectLst/>
              <a:latin typeface="__Inter_1fc7a2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i="0" u="none" strike="noStrike" dirty="0">
                <a:solidFill>
                  <a:srgbClr val="467886"/>
                </a:solidFill>
                <a:effectLst/>
                <a:latin typeface="__Inter_1fc7a2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  <a:r>
              <a:rPr lang="en-US" sz="2000" b="0" i="0" u="none" strike="noStrike" dirty="0">
                <a:effectLst/>
                <a:latin typeface="__Inter_1fc7a2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 -   Interface Segregation Principle</a:t>
            </a:r>
            <a:endParaRPr lang="en-US" sz="2000" b="0" i="0" u="none" strike="noStrike" dirty="0">
              <a:effectLst/>
              <a:latin typeface="__Inter_1fc7a2"/>
            </a:endParaRPr>
          </a:p>
          <a:p>
            <a:pPr marL="0" indent="0">
              <a:buNone/>
            </a:pPr>
            <a:r>
              <a:rPr lang="en-US" sz="2000" dirty="0"/>
              <a:t>      A class should not be forced to implement methods it doesn’t use.</a:t>
            </a:r>
            <a:endParaRPr lang="en-US" sz="2000" b="0" i="0" dirty="0">
              <a:effectLst/>
              <a:latin typeface="__Inter_1fc7a2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i="0" u="none" strike="noStrike" dirty="0">
                <a:solidFill>
                  <a:srgbClr val="467886"/>
                </a:solidFill>
                <a:effectLst/>
                <a:latin typeface="__Inter_1fc7a2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</a:t>
            </a:r>
            <a:r>
              <a:rPr lang="en-US" sz="2000" b="0" i="0" u="none" strike="noStrike" dirty="0">
                <a:effectLst/>
                <a:latin typeface="__Inter_1fc7a2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 - Dependency Inversion Principle</a:t>
            </a:r>
            <a:endParaRPr lang="en-US" sz="2000" b="0" i="0" u="none" strike="noStrike" dirty="0">
              <a:effectLst/>
              <a:latin typeface="__Inter_1fc7a2"/>
            </a:endParaRPr>
          </a:p>
          <a:p>
            <a:pPr marL="457200" lvl="1" indent="0">
              <a:buNone/>
            </a:pPr>
            <a:r>
              <a:rPr lang="en-US" sz="1800" dirty="0"/>
              <a:t>High-level modules should not depend on low-level modules. Both should depend on abstractions.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2000" b="0" i="0" dirty="0">
              <a:effectLst/>
              <a:latin typeface="__Inter_1fc7a2"/>
            </a:endParaRP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175278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1B98B-F861-126E-61BD-AFC775934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</a:t>
            </a:r>
            <a:r>
              <a:rPr lang="en-US" dirty="0"/>
              <a:t>ingle Responsibility Principle (SRP)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05048-5B86-CE48-7C3E-C82697B80C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class should have only one reason to change.</a:t>
            </a:r>
          </a:p>
        </p:txBody>
      </p:sp>
    </p:spTree>
    <p:extLst>
      <p:ext uri="{BB962C8B-B14F-4D97-AF65-F5344CB8AC3E}">
        <p14:creationId xmlns:p14="http://schemas.microsoft.com/office/powerpoint/2010/main" val="1262642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B851D-1501-6DDC-04AB-36A197EC3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❌ Bad Example: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32FFA3-D22A-A48A-C4BE-30C0977213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A Player class that handles movement, attacking, and saving game data.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class Player {</a:t>
            </a:r>
          </a:p>
          <a:p>
            <a:pPr marL="0" indent="0">
              <a:buNone/>
            </a:pPr>
            <a:r>
              <a:rPr lang="en-US" dirty="0"/>
              <a:t>    void move() { /* code to move player */ }</a:t>
            </a:r>
          </a:p>
          <a:p>
            <a:pPr marL="0" indent="0">
              <a:buNone/>
            </a:pPr>
            <a:r>
              <a:rPr lang="en-US" dirty="0"/>
              <a:t>    void attack() { /* code to attack */ }</a:t>
            </a:r>
          </a:p>
          <a:p>
            <a:pPr marL="0" indent="0">
              <a:buNone/>
            </a:pPr>
            <a:r>
              <a:rPr lang="en-US" dirty="0"/>
              <a:t>    void </a:t>
            </a:r>
            <a:r>
              <a:rPr lang="en-US" dirty="0" err="1"/>
              <a:t>saveGame</a:t>
            </a:r>
            <a:r>
              <a:rPr lang="en-US" dirty="0"/>
              <a:t>() { /* code to save game */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BB8AE6-3FFB-EEEB-9485-0695C52E6E9D}"/>
              </a:ext>
            </a:extLst>
          </p:cNvPr>
          <p:cNvSpPr txBox="1"/>
          <p:nvPr/>
        </p:nvSpPr>
        <p:spPr>
          <a:xfrm>
            <a:off x="8297945" y="112991"/>
            <a:ext cx="37777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</a:t>
            </a:r>
            <a:r>
              <a:rPr lang="en-US" dirty="0"/>
              <a:t>ingle Responsibility Principle (SRP)</a:t>
            </a:r>
          </a:p>
        </p:txBody>
      </p:sp>
    </p:spTree>
    <p:extLst>
      <p:ext uri="{BB962C8B-B14F-4D97-AF65-F5344CB8AC3E}">
        <p14:creationId xmlns:p14="http://schemas.microsoft.com/office/powerpoint/2010/main" val="3007683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7413A-94A3-AC8B-6BAB-7A97C2104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✅ Good Example: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8ABBB-840B-1354-6113-C62E45032A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Split responsibilities into different classes.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class Player {</a:t>
            </a:r>
          </a:p>
          <a:p>
            <a:pPr marL="0" indent="0">
              <a:buNone/>
            </a:pPr>
            <a:r>
              <a:rPr lang="en-US" dirty="0"/>
              <a:t>    void move() { /* code to move player */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AttackSystem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    void attack(Player </a:t>
            </a:r>
            <a:r>
              <a:rPr lang="en-US" dirty="0" err="1"/>
              <a:t>player</a:t>
            </a:r>
            <a:r>
              <a:rPr lang="en-US" dirty="0"/>
              <a:t>, Enemy enemy) { /* code to attack */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SaveSystem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    void </a:t>
            </a:r>
            <a:r>
              <a:rPr lang="en-US" dirty="0" err="1"/>
              <a:t>saveGame</a:t>
            </a:r>
            <a:r>
              <a:rPr lang="en-US" dirty="0"/>
              <a:t>(Player player) { /* code to save game */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9069F9-1A36-DF63-29E0-F3D14D0CFC84}"/>
              </a:ext>
            </a:extLst>
          </p:cNvPr>
          <p:cNvSpPr txBox="1"/>
          <p:nvPr/>
        </p:nvSpPr>
        <p:spPr>
          <a:xfrm>
            <a:off x="577392" y="6201185"/>
            <a:ext cx="88776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Now, if saving logic changes, we only modify </a:t>
            </a:r>
            <a:r>
              <a:rPr lang="en-US" b="1" dirty="0" err="1"/>
              <a:t>SaveSystem</a:t>
            </a:r>
            <a:r>
              <a:rPr lang="en-US" b="1" dirty="0"/>
              <a:t>, not Player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4A8E5B-D3C6-5439-5378-A48BDF030426}"/>
              </a:ext>
            </a:extLst>
          </p:cNvPr>
          <p:cNvSpPr txBox="1"/>
          <p:nvPr/>
        </p:nvSpPr>
        <p:spPr>
          <a:xfrm>
            <a:off x="8297945" y="112991"/>
            <a:ext cx="37777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</a:t>
            </a:r>
            <a:r>
              <a:rPr lang="en-US" dirty="0"/>
              <a:t>ingle Responsibility Principle (SRP)</a:t>
            </a:r>
          </a:p>
        </p:txBody>
      </p:sp>
    </p:spTree>
    <p:extLst>
      <p:ext uri="{BB962C8B-B14F-4D97-AF65-F5344CB8AC3E}">
        <p14:creationId xmlns:p14="http://schemas.microsoft.com/office/powerpoint/2010/main" val="4099187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3DCCB-FC35-57E3-26A4-C7930C2CF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</a:t>
            </a:r>
            <a:r>
              <a:rPr lang="en-US" dirty="0"/>
              <a:t>pen/Closed Principle (OCP)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53482C-BF16-C7BD-5F97-898E24155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Code should be open for extension but closed for modification.</a:t>
            </a:r>
          </a:p>
        </p:txBody>
      </p:sp>
    </p:spTree>
    <p:extLst>
      <p:ext uri="{BB962C8B-B14F-4D97-AF65-F5344CB8AC3E}">
        <p14:creationId xmlns:p14="http://schemas.microsoft.com/office/powerpoint/2010/main" val="4634222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CD9D9-3E79-B77B-F0F3-01F25B74F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❌ Bad Example: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AAE9E-FC07-03B2-48AE-1316436E03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1155"/>
            <a:ext cx="10515600" cy="471580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Adding new enemy types requires modifying Enemy class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class Enemy {</a:t>
            </a:r>
          </a:p>
          <a:p>
            <a:pPr marL="0" indent="0">
              <a:buNone/>
            </a:pPr>
            <a:r>
              <a:rPr lang="en-US" dirty="0"/>
              <a:t>    String type;</a:t>
            </a:r>
          </a:p>
          <a:p>
            <a:pPr marL="0" indent="0">
              <a:buNone/>
            </a:pPr>
            <a:r>
              <a:rPr lang="en-US" dirty="0"/>
              <a:t>    int health;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void </a:t>
            </a:r>
            <a:r>
              <a:rPr lang="en-US" dirty="0" err="1"/>
              <a:t>takeDamage</a:t>
            </a:r>
            <a:r>
              <a:rPr lang="en-US" dirty="0"/>
              <a:t>(int damage) {</a:t>
            </a:r>
          </a:p>
          <a:p>
            <a:pPr marL="0" indent="0">
              <a:buNone/>
            </a:pPr>
            <a:r>
              <a:rPr lang="en-US" dirty="0"/>
              <a:t>        if (</a:t>
            </a:r>
            <a:r>
              <a:rPr lang="en-US" dirty="0" err="1"/>
              <a:t>type.equals</a:t>
            </a:r>
            <a:r>
              <a:rPr lang="en-US" dirty="0"/>
              <a:t>("Orc")) health -= damage * 0.9;</a:t>
            </a:r>
          </a:p>
          <a:p>
            <a:pPr marL="0" indent="0">
              <a:buNone/>
            </a:pPr>
            <a:r>
              <a:rPr lang="en-US" dirty="0"/>
              <a:t>        else if (</a:t>
            </a:r>
            <a:r>
              <a:rPr lang="en-US" dirty="0" err="1"/>
              <a:t>type.equals</a:t>
            </a:r>
            <a:r>
              <a:rPr lang="en-US" dirty="0"/>
              <a:t>("Dragon")) health -= damage * 0.5;</a:t>
            </a:r>
          </a:p>
          <a:p>
            <a:pPr marL="0" indent="0">
              <a:buNone/>
            </a:pPr>
            <a:r>
              <a:rPr lang="en-US" dirty="0"/>
              <a:t>        else health -= damage;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A188E9-9B2C-40F7-FB10-7ABBB071FB19}"/>
              </a:ext>
            </a:extLst>
          </p:cNvPr>
          <p:cNvSpPr txBox="1"/>
          <p:nvPr/>
        </p:nvSpPr>
        <p:spPr>
          <a:xfrm>
            <a:off x="8552469" y="35187"/>
            <a:ext cx="35138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O</a:t>
            </a:r>
            <a:r>
              <a:rPr lang="en-US" dirty="0"/>
              <a:t>pen/Closed Principle (OCP)</a:t>
            </a:r>
          </a:p>
        </p:txBody>
      </p:sp>
    </p:spTree>
    <p:extLst>
      <p:ext uri="{BB962C8B-B14F-4D97-AF65-F5344CB8AC3E}">
        <p14:creationId xmlns:p14="http://schemas.microsoft.com/office/powerpoint/2010/main" val="16753910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D53CF-8DC4-5C1B-A818-CBAEE3F08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✅ Good Example: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BEA03-8A6D-1069-EAF5-556879F048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Use </a:t>
            </a:r>
            <a:r>
              <a:rPr lang="en-US" b="1" dirty="0"/>
              <a:t>polymorphism</a:t>
            </a:r>
            <a:r>
              <a:rPr lang="en-US" dirty="0"/>
              <a:t> to extend without modifying existing code.</a:t>
            </a:r>
          </a:p>
          <a:p>
            <a:pPr marL="0" indent="0">
              <a:buNone/>
            </a:pPr>
            <a:r>
              <a:rPr lang="en-US" dirty="0"/>
              <a:t>abstract class Enemy {</a:t>
            </a:r>
          </a:p>
          <a:p>
            <a:pPr marL="0" indent="0">
              <a:buNone/>
            </a:pPr>
            <a:r>
              <a:rPr lang="en-US" dirty="0"/>
              <a:t>    int health;</a:t>
            </a:r>
          </a:p>
          <a:p>
            <a:pPr marL="0" indent="0">
              <a:buNone/>
            </a:pPr>
            <a:r>
              <a:rPr lang="en-US" dirty="0"/>
              <a:t>    abstract void </a:t>
            </a:r>
            <a:r>
              <a:rPr lang="en-US" dirty="0" err="1"/>
              <a:t>takeDamage</a:t>
            </a:r>
            <a:r>
              <a:rPr lang="en-US" dirty="0"/>
              <a:t>(int damage);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class Orc extends Enemy {</a:t>
            </a:r>
          </a:p>
          <a:p>
            <a:pPr marL="0" indent="0">
              <a:buNone/>
            </a:pPr>
            <a:r>
              <a:rPr lang="en-US" dirty="0"/>
              <a:t>    void </a:t>
            </a:r>
            <a:r>
              <a:rPr lang="en-US" dirty="0" err="1"/>
              <a:t>takeDamage</a:t>
            </a:r>
            <a:r>
              <a:rPr lang="en-US" dirty="0"/>
              <a:t>(int damage) { health -= damage * 0.9;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class Dragon extends Enemy {</a:t>
            </a:r>
          </a:p>
          <a:p>
            <a:pPr marL="0" indent="0">
              <a:buNone/>
            </a:pPr>
            <a:r>
              <a:rPr lang="en-US" dirty="0"/>
              <a:t>    void </a:t>
            </a:r>
            <a:r>
              <a:rPr lang="en-US" dirty="0" err="1"/>
              <a:t>takeDamage</a:t>
            </a:r>
            <a:r>
              <a:rPr lang="en-US" dirty="0"/>
              <a:t>(int damage) { health -= damage * 0.5;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2E31B3-02C8-0F7C-E053-9D68C1AB4253}"/>
              </a:ext>
            </a:extLst>
          </p:cNvPr>
          <p:cNvSpPr txBox="1"/>
          <p:nvPr/>
        </p:nvSpPr>
        <p:spPr>
          <a:xfrm>
            <a:off x="549112" y="6176963"/>
            <a:ext cx="80104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Now, we can add a Zombie class without changing the existing code.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9D6636-A7E6-BA71-4728-557637E7C1E4}"/>
              </a:ext>
            </a:extLst>
          </p:cNvPr>
          <p:cNvSpPr txBox="1"/>
          <p:nvPr/>
        </p:nvSpPr>
        <p:spPr>
          <a:xfrm>
            <a:off x="8552469" y="35187"/>
            <a:ext cx="35138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O</a:t>
            </a:r>
            <a:r>
              <a:rPr lang="en-US" dirty="0"/>
              <a:t>pen/Closed Principle (OCP)</a:t>
            </a:r>
          </a:p>
        </p:txBody>
      </p:sp>
    </p:spTree>
    <p:extLst>
      <p:ext uri="{BB962C8B-B14F-4D97-AF65-F5344CB8AC3E}">
        <p14:creationId xmlns:p14="http://schemas.microsoft.com/office/powerpoint/2010/main" val="10471397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24D6C-1A48-13B6-1F6F-75312BEB0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L</a:t>
            </a:r>
            <a:r>
              <a:rPr lang="en-US" dirty="0" err="1"/>
              <a:t>iskov</a:t>
            </a:r>
            <a:r>
              <a:rPr lang="en-US" dirty="0"/>
              <a:t> Substitution Principle (LSP)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136CBF-E111-37B5-DECA-26DD78489F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subclass should be able to replace its parent class without breaking the system.</a:t>
            </a:r>
          </a:p>
        </p:txBody>
      </p:sp>
    </p:spTree>
    <p:extLst>
      <p:ext uri="{BB962C8B-B14F-4D97-AF65-F5344CB8AC3E}">
        <p14:creationId xmlns:p14="http://schemas.microsoft.com/office/powerpoint/2010/main" val="9384584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92B4B-A6C2-C8E7-8F68-B7834082D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❌ Bad Example: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EE4104-B5A6-A760-2BAE-622015421E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dirty="0" err="1"/>
              <a:t>FlyingEnemy</a:t>
            </a:r>
            <a:r>
              <a:rPr lang="en-US" dirty="0"/>
              <a:t> that doesn’t behave like a normal Enemy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class Enemy {</a:t>
            </a:r>
          </a:p>
          <a:p>
            <a:pPr marL="0" indent="0">
              <a:buNone/>
            </a:pPr>
            <a:r>
              <a:rPr lang="en-US" sz="2400" dirty="0"/>
              <a:t>    void </a:t>
            </a:r>
            <a:r>
              <a:rPr lang="en-US" sz="2400" dirty="0" err="1"/>
              <a:t>takeDamage</a:t>
            </a:r>
            <a:r>
              <a:rPr lang="en-US" sz="2400" dirty="0"/>
              <a:t>(int damage) { /* reduce health */ }</a:t>
            </a:r>
          </a:p>
          <a:p>
            <a:pPr marL="0" indent="0">
              <a:buNone/>
            </a:pPr>
            <a:r>
              <a:rPr lang="en-US" sz="2400" dirty="0"/>
              <a:t>}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class </a:t>
            </a:r>
            <a:r>
              <a:rPr lang="en-US" sz="2400" dirty="0" err="1"/>
              <a:t>FlyingEnemy</a:t>
            </a:r>
            <a:r>
              <a:rPr lang="en-US" sz="2400" dirty="0"/>
              <a:t> extends Enemy {</a:t>
            </a:r>
          </a:p>
          <a:p>
            <a:pPr marL="0" indent="0">
              <a:buNone/>
            </a:pPr>
            <a:r>
              <a:rPr lang="en-US" sz="2400" dirty="0"/>
              <a:t>    void </a:t>
            </a:r>
            <a:r>
              <a:rPr lang="en-US" sz="2400" dirty="0" err="1"/>
              <a:t>takeDamage</a:t>
            </a:r>
            <a:r>
              <a:rPr lang="en-US" sz="2400" dirty="0"/>
              <a:t>(int damage) { throw new </a:t>
            </a:r>
            <a:r>
              <a:rPr lang="en-US" sz="2400" dirty="0" err="1"/>
              <a:t>UnsupportedOperationException</a:t>
            </a:r>
            <a:r>
              <a:rPr lang="en-US" sz="2400" dirty="0"/>
              <a:t>(); }</a:t>
            </a:r>
          </a:p>
          <a:p>
            <a:pPr marL="0" indent="0">
              <a:buNone/>
            </a:pPr>
            <a:r>
              <a:rPr lang="en-US" sz="2400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C4A586-AE84-2301-ECF8-E41E9C5CB2CC}"/>
              </a:ext>
            </a:extLst>
          </p:cNvPr>
          <p:cNvSpPr txBox="1"/>
          <p:nvPr/>
        </p:nvSpPr>
        <p:spPr>
          <a:xfrm>
            <a:off x="8546184" y="112991"/>
            <a:ext cx="35798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L</a:t>
            </a:r>
            <a:r>
              <a:rPr lang="en-US" dirty="0" err="1"/>
              <a:t>iskov</a:t>
            </a:r>
            <a:r>
              <a:rPr lang="en-US" dirty="0"/>
              <a:t> Substitution Principle (LSP)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652A40-3514-1C6B-B32A-2404FCAD4CA8}"/>
              </a:ext>
            </a:extLst>
          </p:cNvPr>
          <p:cNvSpPr txBox="1"/>
          <p:nvPr/>
        </p:nvSpPr>
        <p:spPr>
          <a:xfrm>
            <a:off x="370002" y="6123543"/>
            <a:ext cx="85383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This breaks LSP because the game expects </a:t>
            </a:r>
            <a:r>
              <a:rPr lang="en-US" b="1" dirty="0" err="1"/>
              <a:t>takeDamage</a:t>
            </a:r>
            <a:r>
              <a:rPr lang="en-US" b="1" dirty="0"/>
              <a:t>() to always work</a:t>
            </a:r>
          </a:p>
        </p:txBody>
      </p:sp>
    </p:spTree>
    <p:extLst>
      <p:ext uri="{BB962C8B-B14F-4D97-AF65-F5344CB8AC3E}">
        <p14:creationId xmlns:p14="http://schemas.microsoft.com/office/powerpoint/2010/main" val="27434803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178D4-A075-37E3-9801-E66789CA7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19653-7440-5074-0720-02261E915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✅ Good Example: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87B1A9-8165-0584-C0C0-8EBF1339DD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7559"/>
            <a:ext cx="10515600" cy="480065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abstract class Enemy {</a:t>
            </a:r>
          </a:p>
          <a:p>
            <a:pPr marL="0" indent="0">
              <a:buNone/>
            </a:pPr>
            <a:r>
              <a:rPr lang="en-US" dirty="0"/>
              <a:t>    int health;</a:t>
            </a:r>
          </a:p>
          <a:p>
            <a:pPr marL="0" indent="0">
              <a:buNone/>
            </a:pPr>
            <a:r>
              <a:rPr lang="en-US" dirty="0"/>
              <a:t>    abstract void </a:t>
            </a:r>
            <a:r>
              <a:rPr lang="en-US" dirty="0" err="1"/>
              <a:t>takeDamage</a:t>
            </a:r>
            <a:r>
              <a:rPr lang="en-US" dirty="0"/>
              <a:t>(int damage);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GroundEnemy</a:t>
            </a:r>
            <a:r>
              <a:rPr lang="en-US" dirty="0"/>
              <a:t> extends Enemy {</a:t>
            </a:r>
          </a:p>
          <a:p>
            <a:pPr marL="0" indent="0">
              <a:buNone/>
            </a:pPr>
            <a:r>
              <a:rPr lang="en-US" dirty="0"/>
              <a:t>    void </a:t>
            </a:r>
            <a:r>
              <a:rPr lang="en-US" dirty="0" err="1"/>
              <a:t>takeDamage</a:t>
            </a:r>
            <a:r>
              <a:rPr lang="en-US" dirty="0"/>
              <a:t>(int damage) { health -= damage;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FlyingEnemy</a:t>
            </a:r>
            <a:r>
              <a:rPr lang="en-US" dirty="0"/>
              <a:t> extends Enemy {</a:t>
            </a:r>
          </a:p>
          <a:p>
            <a:pPr marL="0" indent="0">
              <a:buNone/>
            </a:pPr>
            <a:r>
              <a:rPr lang="en-US" dirty="0"/>
              <a:t>    void </a:t>
            </a:r>
            <a:r>
              <a:rPr lang="en-US" dirty="0" err="1"/>
              <a:t>takeDamage</a:t>
            </a:r>
            <a:r>
              <a:rPr lang="en-US" dirty="0"/>
              <a:t>(int damage) { health -= damage / 2;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3C8488-8B29-09FD-06AB-9509CA0F2239}"/>
              </a:ext>
            </a:extLst>
          </p:cNvPr>
          <p:cNvSpPr txBox="1"/>
          <p:nvPr/>
        </p:nvSpPr>
        <p:spPr>
          <a:xfrm>
            <a:off x="8546184" y="112991"/>
            <a:ext cx="35798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L</a:t>
            </a:r>
            <a:r>
              <a:rPr lang="en-US" dirty="0" err="1"/>
              <a:t>iskov</a:t>
            </a:r>
            <a:r>
              <a:rPr lang="en-US" dirty="0"/>
              <a:t> Substitution Principle (LSP)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58F5FD-52CA-7435-8C73-C8CA5D113815}"/>
              </a:ext>
            </a:extLst>
          </p:cNvPr>
          <p:cNvSpPr txBox="1"/>
          <p:nvPr/>
        </p:nvSpPr>
        <p:spPr>
          <a:xfrm>
            <a:off x="838200" y="6308209"/>
            <a:ext cx="100748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Now, both enemy types can be used without breaking the game.</a:t>
            </a:r>
          </a:p>
        </p:txBody>
      </p:sp>
    </p:spTree>
    <p:extLst>
      <p:ext uri="{BB962C8B-B14F-4D97-AF65-F5344CB8AC3E}">
        <p14:creationId xmlns:p14="http://schemas.microsoft.com/office/powerpoint/2010/main" val="20420767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A5A1E-D78F-D298-CC25-05D62CE0D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</a:t>
            </a:r>
            <a:r>
              <a:rPr lang="en-US" dirty="0"/>
              <a:t>nterface Segregation Principle (ISP)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BB748-1FC5-9690-636B-4794D53D42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class should not be forced to implement methods it doesn’t use.</a:t>
            </a:r>
          </a:p>
        </p:txBody>
      </p:sp>
    </p:spTree>
    <p:extLst>
      <p:ext uri="{BB962C8B-B14F-4D97-AF65-F5344CB8AC3E}">
        <p14:creationId xmlns:p14="http://schemas.microsoft.com/office/powerpoint/2010/main" val="14681832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C936C-AE46-15EE-EA96-D1E0E8D86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❌ Bad Example: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07463-D134-57B4-F340-633F5209A3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A Character interface forces all characters to attack and fly.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interface Character {</a:t>
            </a:r>
          </a:p>
          <a:p>
            <a:pPr marL="0" indent="0">
              <a:buNone/>
            </a:pPr>
            <a:r>
              <a:rPr lang="en-US" dirty="0"/>
              <a:t>    void attack();</a:t>
            </a:r>
          </a:p>
          <a:p>
            <a:pPr marL="0" indent="0">
              <a:buNone/>
            </a:pPr>
            <a:r>
              <a:rPr lang="en-US" dirty="0"/>
              <a:t>    void fly();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class Warrior implements Character {</a:t>
            </a:r>
          </a:p>
          <a:p>
            <a:pPr marL="0" indent="0">
              <a:buNone/>
            </a:pPr>
            <a:r>
              <a:rPr lang="en-US" dirty="0"/>
              <a:t>    void attack() { /* normal attack */ }</a:t>
            </a:r>
          </a:p>
          <a:p>
            <a:pPr marL="0" indent="0">
              <a:buNone/>
            </a:pPr>
            <a:r>
              <a:rPr lang="en-US" dirty="0"/>
              <a:t>    void fly() { throw new </a:t>
            </a:r>
            <a:r>
              <a:rPr lang="en-US" dirty="0" err="1"/>
              <a:t>UnsupportedOperationException</a:t>
            </a:r>
            <a:r>
              <a:rPr lang="en-US" dirty="0"/>
              <a:t>();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A45508-3A6C-FD00-31D7-19E5F490BA31}"/>
              </a:ext>
            </a:extLst>
          </p:cNvPr>
          <p:cNvSpPr txBox="1"/>
          <p:nvPr/>
        </p:nvSpPr>
        <p:spPr>
          <a:xfrm>
            <a:off x="8216247" y="0"/>
            <a:ext cx="39757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</a:t>
            </a:r>
            <a:r>
              <a:rPr lang="en-US" dirty="0"/>
              <a:t>nterface Segregation Principle (ISP)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B046B0-AD5F-B72E-4C9C-2B0B990897B5}"/>
              </a:ext>
            </a:extLst>
          </p:cNvPr>
          <p:cNvSpPr txBox="1"/>
          <p:nvPr/>
        </p:nvSpPr>
        <p:spPr>
          <a:xfrm>
            <a:off x="838200" y="6123543"/>
            <a:ext cx="72971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A warrior should not have to implement fly()</a:t>
            </a:r>
          </a:p>
        </p:txBody>
      </p:sp>
    </p:spTree>
    <p:extLst>
      <p:ext uri="{BB962C8B-B14F-4D97-AF65-F5344CB8AC3E}">
        <p14:creationId xmlns:p14="http://schemas.microsoft.com/office/powerpoint/2010/main" val="28787572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95DD2-A515-5793-8629-79820D7D9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F81B6-636A-2D92-773C-D59DC24F8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✅ Good Example: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706F2-EED3-81A7-FFD8-966CD8965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219" y="1825625"/>
            <a:ext cx="5495826" cy="38116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Split the interface</a:t>
            </a:r>
          </a:p>
          <a:p>
            <a:pPr marL="0" indent="0">
              <a:buNone/>
            </a:pPr>
            <a:r>
              <a:rPr lang="en-US" dirty="0"/>
              <a:t>interface Attacker {</a:t>
            </a:r>
          </a:p>
          <a:p>
            <a:pPr marL="0" indent="0">
              <a:buNone/>
            </a:pPr>
            <a:r>
              <a:rPr lang="en-US" dirty="0"/>
              <a:t>    void attack();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interface Flyer {</a:t>
            </a:r>
          </a:p>
          <a:p>
            <a:pPr marL="0" indent="0">
              <a:buNone/>
            </a:pPr>
            <a:r>
              <a:rPr lang="en-US" dirty="0"/>
              <a:t>    void fly();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339662-0565-5243-86C3-BBABC4DDC079}"/>
              </a:ext>
            </a:extLst>
          </p:cNvPr>
          <p:cNvSpPr txBox="1"/>
          <p:nvPr/>
        </p:nvSpPr>
        <p:spPr>
          <a:xfrm>
            <a:off x="8216247" y="0"/>
            <a:ext cx="39757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</a:t>
            </a:r>
            <a:r>
              <a:rPr lang="en-US" dirty="0"/>
              <a:t>nterface Segregation Principle (ISP)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566E55-121F-EC18-31A0-D6AB853EFEFB}"/>
              </a:ext>
            </a:extLst>
          </p:cNvPr>
          <p:cNvSpPr txBox="1"/>
          <p:nvPr/>
        </p:nvSpPr>
        <p:spPr>
          <a:xfrm>
            <a:off x="4954571" y="2240404"/>
            <a:ext cx="7039465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dirty="0"/>
              <a:t>class Warrior implements Attacker {</a:t>
            </a:r>
          </a:p>
          <a:p>
            <a:pPr marL="0" indent="0">
              <a:buNone/>
            </a:pPr>
            <a:r>
              <a:rPr lang="en-US" sz="2800" dirty="0"/>
              <a:t>    void attack() { /* normal attack */ }</a:t>
            </a:r>
          </a:p>
          <a:p>
            <a:pPr marL="0" indent="0">
              <a:buNone/>
            </a:pPr>
            <a:r>
              <a:rPr lang="en-US" sz="2800" dirty="0"/>
              <a:t>}</a:t>
            </a:r>
          </a:p>
          <a:p>
            <a:pPr marL="0" indent="0">
              <a:buNone/>
            </a:pPr>
            <a:r>
              <a:rPr lang="en-US" sz="2800" dirty="0"/>
              <a:t>class Dragon implements Attacker, Flyer {</a:t>
            </a:r>
          </a:p>
          <a:p>
            <a:pPr marL="0" indent="0">
              <a:buNone/>
            </a:pPr>
            <a:r>
              <a:rPr lang="en-US" sz="2800" dirty="0"/>
              <a:t>    void attack() { /* fire attack */ }</a:t>
            </a:r>
          </a:p>
          <a:p>
            <a:pPr marL="0" indent="0">
              <a:buNone/>
            </a:pPr>
            <a:r>
              <a:rPr lang="en-US" sz="2800" dirty="0"/>
              <a:t>    void fly() { /* flying ability */ }</a:t>
            </a:r>
          </a:p>
          <a:p>
            <a:pPr marL="0" indent="0">
              <a:buNone/>
            </a:pPr>
            <a:r>
              <a:rPr lang="en-US" sz="2800" dirty="0"/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20826D-AC05-1FAA-DACB-6CB09D4211A2}"/>
              </a:ext>
            </a:extLst>
          </p:cNvPr>
          <p:cNvSpPr txBox="1"/>
          <p:nvPr/>
        </p:nvSpPr>
        <p:spPr>
          <a:xfrm>
            <a:off x="624525" y="5817613"/>
            <a:ext cx="75917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Now, each class only implements what it needs.</a:t>
            </a:r>
          </a:p>
        </p:txBody>
      </p:sp>
    </p:spTree>
    <p:extLst>
      <p:ext uri="{BB962C8B-B14F-4D97-AF65-F5344CB8AC3E}">
        <p14:creationId xmlns:p14="http://schemas.microsoft.com/office/powerpoint/2010/main" val="3568866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26A16-6650-2586-E19D-01568673C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</a:t>
            </a:r>
            <a:r>
              <a:rPr lang="en-US" dirty="0"/>
              <a:t>ependency Inversion Principle (DIP)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CC71F-CDBA-13D5-4457-74B7EFEAEB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High-level modules should not depend on low-level modules. Both should depend on abstractions.</a:t>
            </a:r>
          </a:p>
        </p:txBody>
      </p:sp>
    </p:spTree>
    <p:extLst>
      <p:ext uri="{BB962C8B-B14F-4D97-AF65-F5344CB8AC3E}">
        <p14:creationId xmlns:p14="http://schemas.microsoft.com/office/powerpoint/2010/main" val="7543729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631D4-321A-EAB8-7EAA-49D1D1F21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❌ Bad Example: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D1E1C8-8E3B-E7AA-C81F-8A27A12358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Player class directly depends on Sword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class Sword {</a:t>
            </a:r>
          </a:p>
          <a:p>
            <a:pPr marL="0" indent="0">
              <a:buNone/>
            </a:pPr>
            <a:r>
              <a:rPr lang="en-US" dirty="0"/>
              <a:t>    void attack() { /* sword attack logic */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class Player {</a:t>
            </a:r>
          </a:p>
          <a:p>
            <a:pPr marL="0" indent="0">
              <a:buNone/>
            </a:pPr>
            <a:r>
              <a:rPr lang="en-US" dirty="0"/>
              <a:t>    Sword weapon = new Sword();</a:t>
            </a:r>
          </a:p>
          <a:p>
            <a:pPr marL="0" indent="0">
              <a:buNone/>
            </a:pPr>
            <a:r>
              <a:rPr lang="en-US" dirty="0"/>
              <a:t>    void attack() { </a:t>
            </a:r>
            <a:r>
              <a:rPr lang="en-US" dirty="0" err="1"/>
              <a:t>weapon.attack</a:t>
            </a:r>
            <a:r>
              <a:rPr lang="en-US" dirty="0"/>
              <a:t>();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C3EE71-CFB1-D1B5-82AE-7DB814DA4CF9}"/>
              </a:ext>
            </a:extLst>
          </p:cNvPr>
          <p:cNvSpPr txBox="1"/>
          <p:nvPr/>
        </p:nvSpPr>
        <p:spPr>
          <a:xfrm>
            <a:off x="633952" y="5992297"/>
            <a:ext cx="91416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If we want to add a Bow, we must change Player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C30FEC-3A19-2F3B-252D-FE6844AE375E}"/>
              </a:ext>
            </a:extLst>
          </p:cNvPr>
          <p:cNvSpPr txBox="1"/>
          <p:nvPr/>
        </p:nvSpPr>
        <p:spPr>
          <a:xfrm>
            <a:off x="8194250" y="104936"/>
            <a:ext cx="39003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</a:t>
            </a:r>
            <a:r>
              <a:rPr lang="en-US" dirty="0"/>
              <a:t>ependency Inversion Principle (DIP)</a:t>
            </a:r>
          </a:p>
        </p:txBody>
      </p:sp>
    </p:spTree>
    <p:extLst>
      <p:ext uri="{BB962C8B-B14F-4D97-AF65-F5344CB8AC3E}">
        <p14:creationId xmlns:p14="http://schemas.microsoft.com/office/powerpoint/2010/main" val="23596636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CF84C-A7C5-5DD1-F9A9-8A76B2F56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✅ Good Example: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E5A93-0A7C-33F6-3FF6-9B3680D69F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822" y="1448081"/>
            <a:ext cx="6712670" cy="5027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Depend on an </a:t>
            </a:r>
            <a:r>
              <a:rPr lang="en-US" sz="2400" b="1" dirty="0"/>
              <a:t>abstract interface</a:t>
            </a:r>
            <a:r>
              <a:rPr lang="en-US" sz="2400" dirty="0"/>
              <a:t> instead.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B68AE6-FA0F-5D8C-A0D4-7D2C42939FBF}"/>
              </a:ext>
            </a:extLst>
          </p:cNvPr>
          <p:cNvSpPr txBox="1"/>
          <p:nvPr/>
        </p:nvSpPr>
        <p:spPr>
          <a:xfrm>
            <a:off x="8194250" y="104936"/>
            <a:ext cx="39003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</a:t>
            </a:r>
            <a:r>
              <a:rPr lang="en-US" dirty="0"/>
              <a:t>ependency Inversion Principle (DIP)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CAE04E-7F2F-1EC3-5B1F-B8A806E9659D}"/>
              </a:ext>
            </a:extLst>
          </p:cNvPr>
          <p:cNvSpPr txBox="1"/>
          <p:nvPr/>
        </p:nvSpPr>
        <p:spPr>
          <a:xfrm>
            <a:off x="771427" y="1968560"/>
            <a:ext cx="609442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interface Weapon {</a:t>
            </a:r>
          </a:p>
          <a:p>
            <a:r>
              <a:rPr lang="en-US" sz="2400" dirty="0"/>
              <a:t>    void attack();</a:t>
            </a:r>
          </a:p>
          <a:p>
            <a:r>
              <a:rPr lang="en-US" sz="2400" dirty="0"/>
              <a:t>}</a:t>
            </a:r>
          </a:p>
          <a:p>
            <a:endParaRPr lang="en-US" sz="2400" dirty="0"/>
          </a:p>
          <a:p>
            <a:r>
              <a:rPr lang="en-US" sz="2400" dirty="0"/>
              <a:t>class Sword implements Weapon {</a:t>
            </a:r>
          </a:p>
          <a:p>
            <a:r>
              <a:rPr lang="en-US" sz="2400" dirty="0"/>
              <a:t>    void attack() { /* sword attack logic */ }</a:t>
            </a:r>
          </a:p>
          <a:p>
            <a:r>
              <a:rPr lang="en-US" sz="2400" dirty="0"/>
              <a:t>}</a:t>
            </a:r>
          </a:p>
          <a:p>
            <a:endParaRPr lang="en-US" sz="2400" dirty="0"/>
          </a:p>
          <a:p>
            <a:r>
              <a:rPr lang="en-US" sz="2400" dirty="0"/>
              <a:t>class Bow implements Weapon {</a:t>
            </a:r>
          </a:p>
          <a:p>
            <a:r>
              <a:rPr lang="en-US" sz="2400" dirty="0"/>
              <a:t>    void attack() { /* bow attack logic */ }</a:t>
            </a:r>
          </a:p>
          <a:p>
            <a:r>
              <a:rPr lang="en-US" sz="2400" dirty="0"/>
              <a:t>}</a:t>
            </a:r>
          </a:p>
          <a:p>
            <a:endParaRPr lang="en-US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BDEDF0-3E55-BC23-E2C1-729C27A65E1C}"/>
              </a:ext>
            </a:extLst>
          </p:cNvPr>
          <p:cNvSpPr txBox="1"/>
          <p:nvPr/>
        </p:nvSpPr>
        <p:spPr>
          <a:xfrm>
            <a:off x="7072460" y="1950877"/>
            <a:ext cx="502213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class Player {</a:t>
            </a:r>
          </a:p>
          <a:p>
            <a:r>
              <a:rPr lang="en-US" sz="2000" dirty="0"/>
              <a:t>    Weapon </a:t>
            </a:r>
            <a:r>
              <a:rPr lang="en-US" sz="2000" dirty="0" err="1"/>
              <a:t>weapon</a:t>
            </a:r>
            <a:r>
              <a:rPr lang="en-US" sz="2000" dirty="0"/>
              <a:t>;</a:t>
            </a:r>
          </a:p>
          <a:p>
            <a:r>
              <a:rPr lang="en-US" sz="2000" dirty="0"/>
              <a:t>    </a:t>
            </a:r>
          </a:p>
          <a:p>
            <a:r>
              <a:rPr lang="en-US" sz="2000" dirty="0"/>
              <a:t>   Player(Weapon weapon)  </a:t>
            </a:r>
          </a:p>
          <a:p>
            <a:r>
              <a:rPr lang="en-US" sz="2000" dirty="0"/>
              <a:t>  { </a:t>
            </a:r>
          </a:p>
          <a:p>
            <a:r>
              <a:rPr lang="en-US" sz="2000" dirty="0"/>
              <a:t>     </a:t>
            </a:r>
            <a:r>
              <a:rPr lang="en-US" sz="2000" dirty="0" err="1"/>
              <a:t>this.weapon</a:t>
            </a:r>
            <a:r>
              <a:rPr lang="en-US" sz="2000" dirty="0"/>
              <a:t> = weapon; </a:t>
            </a:r>
          </a:p>
          <a:p>
            <a:r>
              <a:rPr lang="en-US" sz="2000" dirty="0"/>
              <a:t>  }</a:t>
            </a:r>
          </a:p>
          <a:p>
            <a:r>
              <a:rPr lang="en-US" sz="2000" dirty="0"/>
              <a:t>   </a:t>
            </a:r>
          </a:p>
          <a:p>
            <a:r>
              <a:rPr lang="en-US" sz="2000" dirty="0"/>
              <a:t> void attack() { </a:t>
            </a:r>
            <a:r>
              <a:rPr lang="en-US" sz="2000" dirty="0" err="1"/>
              <a:t>weapon.attack</a:t>
            </a:r>
            <a:r>
              <a:rPr lang="en-US" sz="2000" dirty="0"/>
              <a:t>(); }</a:t>
            </a:r>
          </a:p>
          <a:p>
            <a:r>
              <a:rPr lang="en-US" sz="2000" dirty="0"/>
              <a:t>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A3CA65-E841-6057-538B-E9B6820ECC8E}"/>
              </a:ext>
            </a:extLst>
          </p:cNvPr>
          <p:cNvSpPr txBox="1"/>
          <p:nvPr/>
        </p:nvSpPr>
        <p:spPr>
          <a:xfrm>
            <a:off x="498833" y="6244359"/>
            <a:ext cx="91542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Now, Player works with any weapon without modification</a:t>
            </a:r>
          </a:p>
        </p:txBody>
      </p:sp>
    </p:spTree>
    <p:extLst>
      <p:ext uri="{BB962C8B-B14F-4D97-AF65-F5344CB8AC3E}">
        <p14:creationId xmlns:p14="http://schemas.microsoft.com/office/powerpoint/2010/main" val="37842930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1000</Words>
  <Application>Microsoft Office PowerPoint</Application>
  <PresentationFormat>Widescreen</PresentationFormat>
  <Paragraphs>174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__Inter_1fc7a2</vt:lpstr>
      <vt:lpstr>Aptos</vt:lpstr>
      <vt:lpstr>Aptos Display</vt:lpstr>
      <vt:lpstr>Arial</vt:lpstr>
      <vt:lpstr>Office Theme</vt:lpstr>
      <vt:lpstr>SOLID principle in Gaming</vt:lpstr>
      <vt:lpstr>SOLID principles</vt:lpstr>
      <vt:lpstr>Single Responsibility Principle (SRP)</vt:lpstr>
      <vt:lpstr>❌ Bad Example:</vt:lpstr>
      <vt:lpstr>✅ Good Example:</vt:lpstr>
      <vt:lpstr>Open/Closed Principle (OCP)</vt:lpstr>
      <vt:lpstr>❌ Bad Example:</vt:lpstr>
      <vt:lpstr>✅ Good Example:</vt:lpstr>
      <vt:lpstr>Liskov Substitution Principle (LSP)</vt:lpstr>
      <vt:lpstr>❌ Bad Example:</vt:lpstr>
      <vt:lpstr>✅ Good Example:</vt:lpstr>
      <vt:lpstr>Interface Segregation Principle (ISP)</vt:lpstr>
      <vt:lpstr>❌ Bad Example:</vt:lpstr>
      <vt:lpstr>✅ Good Example:</vt:lpstr>
      <vt:lpstr>Dependency Inversion Principle (DIP)</vt:lpstr>
      <vt:lpstr>❌ Bad Example:</vt:lpstr>
      <vt:lpstr>✅ Good Example: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Kasım ÖZACAR</dc:creator>
  <cp:lastModifiedBy>Kasım ÖZACAR</cp:lastModifiedBy>
  <cp:revision>5</cp:revision>
  <dcterms:created xsi:type="dcterms:W3CDTF">2025-02-03T13:47:02Z</dcterms:created>
  <dcterms:modified xsi:type="dcterms:W3CDTF">2025-02-03T14:14:31Z</dcterms:modified>
</cp:coreProperties>
</file>