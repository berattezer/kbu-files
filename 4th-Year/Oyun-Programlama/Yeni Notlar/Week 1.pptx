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76" r:id="rId2"/>
    <p:sldId id="475" r:id="rId3"/>
    <p:sldId id="263" r:id="rId4"/>
    <p:sldId id="468" r:id="rId5"/>
    <p:sldId id="469" r:id="rId6"/>
    <p:sldId id="264" r:id="rId7"/>
    <p:sldId id="304" r:id="rId8"/>
    <p:sldId id="269" r:id="rId9"/>
    <p:sldId id="261" r:id="rId10"/>
    <p:sldId id="478" r:id="rId11"/>
    <p:sldId id="305" r:id="rId12"/>
    <p:sldId id="477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A0EA4-53E5-4383-AE44-307B71A7E935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CE993-2F74-4FBD-9CBA-23083B1607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678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0411EF80-4EF5-41D6-89C2-8DDDD2B208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429A23AA-9F76-4945-9CE9-0E3402391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latin typeface="Arial" panose="020B0604020202020204" pitchFamily="34" charset="0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B75AB588-23A8-42F5-A64A-DBB40278A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336BFD2-69B9-4761-9A71-FDFEFD2BB9A2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55FCD709-3981-49AD-96A9-3FAE89F85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88E3E7-F504-49E2-93BC-72FF00185B83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31D84FD-54B4-4A50-A91A-6D6C907BB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3772512-8614-4D21-8649-C124D050B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6E0D-F5C8-4A80-A920-9C4EF4CCA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D4C13-614C-46CA-A89B-1A0C627C4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2AB4-C1B1-4637-8997-0E47C094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2FC6-2476-49C1-914C-D7F70499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160DF-0902-4BEA-AD2A-D6E19868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69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74D5-C59F-48F8-932D-02971298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0B26-8E5F-429E-9951-ACD4D4441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3B58F-5FF3-4D10-8075-30C788E5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7A962-E5BB-4830-919A-3D89FE0F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5D314-FF69-40C4-B0B4-710C9E0B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0E053A-5359-43F4-99D3-9D69F6A7C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2471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0B47-4915-421E-A541-E93AD168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996DD-ADAC-47BF-961D-868C05483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39D19-911E-4420-B3E5-433106D0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A1FC7-E8A2-4A59-B52A-FA70ED0B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95C15-AD95-4889-9E1A-DBEE6315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4B30D-A981-4CC1-B71C-ADAC361111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883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1720-4802-4CBE-B773-440B06E1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E59F-481A-4F4B-8051-6B0B50106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73333-2740-48DC-8995-781723097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7AEED-CECD-47D8-9901-108A99A5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C9004-2B9B-4673-87FD-B33DC0D6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333A2-E65E-406C-A828-0D581FBA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7516D5-8402-4126-899F-3BB6ABAEDC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974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1ECC-2F6A-42BA-8972-1F6E6B971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97689-6D57-487D-B055-1271A782E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E46A7-41F6-4214-B3D8-B5472FEEC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44432-5595-4510-9839-D83EDD53F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B51F3-8F00-4469-8540-696B91A7B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CB4C8-1E47-4D4E-AB80-A6378254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EEE57-0896-480B-BE7C-6DB3FC49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F5C2A-11E5-4429-90A9-344A8B64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753578-9FAA-40C3-A4AA-8BB6F121C3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349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594F-5826-4841-9C10-DE6420FA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1A9A5-3BD6-4476-AD37-3F5E3E9D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14BA6-33C8-4C5F-8BE1-572B6EEE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3F3FC-3919-4E40-9273-59F682BE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2D86C-4B70-4D04-834C-1CCBAFDDAC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385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A816F-8292-4A2F-B6A7-39292F4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77BB3-9EAD-45D9-9FD0-3F0E2F6C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EAB5-66FB-4702-BC99-4A886589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0507F-1D94-4E39-B188-5E65B6940B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5876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9960-67E7-4304-AA5A-996F21EE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071B9-329F-4843-ACA9-F5B9E2C2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9E489-325D-4035-A1C1-7B4C411E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1C1B-6EAE-4494-B402-7D692135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217C5-66AC-4FEA-B987-561A5DD2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0635D-B912-45DB-A49E-8A3F0C83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DF0AA2-DB42-452E-90A2-EF2474A779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2095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A6AA-5829-46A6-95E6-EB5A4220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DD85B-9FA2-4019-8E7B-F47A0312D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4AA81-66D7-4CB9-8EC6-7905D267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7F115-5811-4FC9-93B9-24F00ABD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FE330-386B-44A7-BA2C-CAAD67F3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632CB-E1E8-424E-AA3C-E7BE8884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952943-6376-455F-AB27-7B61B26B5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6649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2919-13F0-41BB-A438-D8C83BE7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111BD-62E6-44C8-B6AD-78F84D96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F8E9A-946C-4203-8A01-FA9598E6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C68AE-7D50-4A76-AD14-B8A18B95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37B9E-8C6F-447E-A099-5EC525C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ED53A-27B5-4988-AAE9-D453F45F5C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358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8125C-EBAB-4BC4-9005-2ABD8C5E7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CA328-C2FA-4B09-BC4C-17AB97D97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80A40-8D80-44F5-A7EF-DFC03D84F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79604-304A-4380-A399-B4FC48CE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E7DF-F190-4CEC-8EE3-532B5850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161B6-9853-4BD6-90C7-5A54459A5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14" y="86099"/>
            <a:ext cx="820553" cy="820553"/>
          </a:xfrm>
          <a:prstGeom prst="roundRect">
            <a:avLst>
              <a:gd name="adj" fmla="val 1135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40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A81C0-4437-449C-88F7-8D15A3B8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70D8B-7FAD-4021-A30A-D2C6050E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B9C8-F7AF-4F92-AFE4-617716BB2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9BF52-F221-4C55-88DE-0F5B3049CB3F}" type="datetimeFigureOut">
              <a:rPr lang="tr-TR" smtClean="0"/>
              <a:t>19.02.2026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0BBB-3467-492D-98DC-EF90699AA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9F2DA-C051-49EE-8180-3159B2341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54D63-6EAB-4A1A-822A-935093743A9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835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1E9D6200-CE17-4B5B-A63F-33C84E512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981199"/>
            <a:ext cx="10134600" cy="1528763"/>
          </a:xfrm>
        </p:spPr>
        <p:txBody>
          <a:bodyPr>
            <a:normAutofit/>
          </a:bodyPr>
          <a:lstStyle/>
          <a:p>
            <a:r>
              <a:rPr lang="en-US" altLang="tr-TR" b="1" dirty="0"/>
              <a:t>Game programming</a:t>
            </a:r>
            <a:br>
              <a:rPr lang="en-US" altLang="tr-TR" b="1" dirty="0"/>
            </a:br>
            <a:r>
              <a:rPr lang="en-US" altLang="tr-TR" sz="3100" b="1" dirty="0"/>
              <a:t>Introduction to C# for Game Programming</a:t>
            </a:r>
            <a:endParaRPr lang="tr-TR" altLang="tr-TR" sz="7200" i="1" dirty="0"/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9558F8B6-4F45-4B3A-B1B1-1DD3D4277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4724400"/>
            <a:ext cx="10439400" cy="390517"/>
          </a:xfrm>
        </p:spPr>
        <p:txBody>
          <a:bodyPr/>
          <a:lstStyle/>
          <a:p>
            <a:r>
              <a:rPr lang="en-US" altLang="tr-T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Ozacar Kasim, PhD | Computer Engineering Department</a:t>
            </a:r>
            <a:endParaRPr lang="tr-TR" altLang="tr-T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FC451-49B6-4824-BB04-D1B258B67AA3}"/>
              </a:ext>
            </a:extLst>
          </p:cNvPr>
          <p:cNvSpPr txBox="1"/>
          <p:nvPr/>
        </p:nvSpPr>
        <p:spPr>
          <a:xfrm>
            <a:off x="116205" y="76201"/>
            <a:ext cx="838444" cy="408623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week1</a:t>
            </a:r>
            <a:endParaRPr lang="tr-T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DED84-27F3-4C44-9265-DF96EEBE5484}"/>
              </a:ext>
            </a:extLst>
          </p:cNvPr>
          <p:cNvCxnSpPr/>
          <p:nvPr/>
        </p:nvCxnSpPr>
        <p:spPr>
          <a:xfrm>
            <a:off x="116205" y="1905000"/>
            <a:ext cx="1198626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AB7162-68E7-4B2D-B529-7F408CA90F24}"/>
              </a:ext>
            </a:extLst>
          </p:cNvPr>
          <p:cNvCxnSpPr/>
          <p:nvPr/>
        </p:nvCxnSpPr>
        <p:spPr>
          <a:xfrm>
            <a:off x="116205" y="3733800"/>
            <a:ext cx="1198626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574A779-4111-4F0A-A3D4-006C4D224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564" y="3957639"/>
            <a:ext cx="3034871" cy="3034871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9656AD4-BFC1-4AB1-9686-E4A0C1A7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tr-TR">
                <a:solidFill>
                  <a:schemeClr val="bg1">
                    <a:lumMod val="75000"/>
                  </a:schemeClr>
                </a:solidFill>
              </a:rPr>
              <a:t>CME225 OOP</a:t>
            </a:r>
            <a:endParaRPr lang="tr-T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5BEFF6E-159E-4C9E-AC7A-03A39907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B778A4-CD89-4F1C-8B63-4C925737E84A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2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3D49-638C-4B41-8510-5C8FFD728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Lectures By Week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CE033-3E0F-466B-B359-3B6F874BF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6546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Week1 : C# for Scripting (C# Fundamentals, OOP, Collections)</a:t>
            </a:r>
            <a:endParaRPr lang="en-US" altLang="tr-T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Week2 : Introduction to Unity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Week3:  Game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Maths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Week4 : First Game: 2D racket Game</a:t>
            </a:r>
          </a:p>
          <a:p>
            <a:pPr marL="0" indent="0">
              <a:buNone/>
            </a:pPr>
            <a:endParaRPr lang="tr-T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tr-T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7BB73-7D01-446F-AD98-ED69D380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tr-TR" dirty="0">
                <a:solidFill>
                  <a:schemeClr val="bg1">
                    <a:lumMod val="75000"/>
                  </a:schemeClr>
                </a:solidFill>
              </a:rPr>
              <a:t>CME225 OOP</a:t>
            </a:r>
            <a:endParaRPr lang="tr-T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A5446-0AC1-4970-9E6B-5973B98F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252EBA-4ED1-439A-8510-9161CC89B718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33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674DF9-7588-4173-B17F-7EDC5C1188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52600" y="1447800"/>
            <a:ext cx="8077200" cy="16097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programming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9D86DA-3416-4491-9F6F-45B6539D99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programming in C#</a:t>
            </a:r>
          </a:p>
          <a:p>
            <a:pPr>
              <a:defRPr/>
            </a:pPr>
            <a:r>
              <a:rPr lang="en-US" dirty="0"/>
              <a:t>OOP overview</a:t>
            </a: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9E07A28-A08A-4884-9861-C7501B6D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Course Educational Objectives: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8A79-F25B-4870-B297-73CC5BD2B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This course enables the students to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• Learn Higher-level Techniques for Game Programming </a:t>
            </a:r>
          </a:p>
          <a:p>
            <a:pPr marL="0" indent="0">
              <a:buNone/>
            </a:pPr>
            <a:r>
              <a:rPr lang="en-US" dirty="0"/>
              <a:t>• Learn how to program games for various platforms </a:t>
            </a:r>
          </a:p>
          <a:p>
            <a:pPr marL="0" indent="0">
              <a:buNone/>
            </a:pPr>
            <a:r>
              <a:rPr lang="en-US" dirty="0"/>
              <a:t>• Learn Game Development Tools </a:t>
            </a:r>
          </a:p>
          <a:p>
            <a:pPr marL="0" indent="0">
              <a:buNone/>
              <a:defRPr/>
            </a:pPr>
            <a:endParaRPr lang="tr-T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562F5-F8C0-454A-B153-873436C6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tr-TR">
                <a:solidFill>
                  <a:schemeClr val="bg1">
                    <a:lumMod val="75000"/>
                  </a:schemeClr>
                </a:solidFill>
              </a:rPr>
              <a:t>CME225 OOP</a:t>
            </a:r>
            <a:endParaRPr lang="tr-T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F948A-4024-42BF-A71D-E28A3E90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252EBA-4ED1-439A-8510-9161CC89B718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6BEBC3D-476D-4DDC-93AB-1AD4046B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Course Outcomes:</a:t>
            </a:r>
            <a:endParaRPr lang="tr-TR" altLang="tr-TR" dirty="0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0049B75A-DCE7-46E4-9002-A973AF100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90688"/>
            <a:ext cx="10972800" cy="4351338"/>
          </a:xfrm>
        </p:spPr>
        <p:txBody>
          <a:bodyPr/>
          <a:lstStyle/>
          <a:p>
            <a:r>
              <a:rPr lang="en-US" altLang="tr-TR" dirty="0"/>
              <a:t>After completion of the course, you will able to: </a:t>
            </a:r>
          </a:p>
          <a:p>
            <a:r>
              <a:rPr lang="en-US" altLang="tr-TR" dirty="0"/>
              <a:t>CO1: Able to Understand Game design Concept in Unity, C# language features. Able to Understanding and Applying various Datatypes in game design (Vectors, Quaternions </a:t>
            </a:r>
            <a:r>
              <a:rPr lang="en-US" altLang="tr-TR" dirty="0" err="1"/>
              <a:t>GameObjects</a:t>
            </a:r>
            <a:r>
              <a:rPr lang="en-US" altLang="tr-TR" dirty="0"/>
              <a:t>, Transform etc.). </a:t>
            </a:r>
          </a:p>
          <a:p>
            <a:r>
              <a:rPr lang="en-US" altLang="tr-TR" dirty="0"/>
              <a:t>CO2: Able to Understand and Apply the concepts of Classes &amp;Objects, constructors in game design. </a:t>
            </a:r>
          </a:p>
          <a:p>
            <a:r>
              <a:rPr lang="en-US" altLang="tr-TR" dirty="0"/>
              <a:t>CO3: You will make your own game (to some extent)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17714-7938-41C4-BE2C-0B924249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tr-TR">
                <a:solidFill>
                  <a:schemeClr val="bg1">
                    <a:lumMod val="75000"/>
                  </a:schemeClr>
                </a:solidFill>
              </a:rPr>
              <a:t>CME225 OOP</a:t>
            </a:r>
            <a:endParaRPr lang="tr-TR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0B8C1-8CA4-4900-B828-B51A5294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252EBA-4ED1-439A-8510-9161CC89B718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33B766B-4579-4CF1-85C8-835ECC109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Course Overview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1B63AC-2C1B-4018-8292-F5B3E9440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700" dirty="0"/>
              <a:t>Assume you know C# and/or Java and basic object-oriented or component-based programming. (Still, we will talk about them)</a:t>
            </a:r>
          </a:p>
          <a:p>
            <a:pPr eaLnBrk="1" hangingPunct="1"/>
            <a:r>
              <a:rPr lang="en-US" altLang="en-US" dirty="0"/>
              <a:t>Requires (lots of) practice / reading.</a:t>
            </a:r>
          </a:p>
          <a:p>
            <a:pPr lvl="1" eaLnBrk="1" hangingPunct="1"/>
            <a:r>
              <a:rPr lang="en-US" altLang="en-US" b="1" i="1" dirty="0"/>
              <a:t>C# and Unity cannot be learned thoroughly in this very short course</a:t>
            </a:r>
          </a:p>
          <a:p>
            <a:pPr eaLnBrk="1" hangingPunct="1"/>
            <a:r>
              <a:rPr lang="en-US" altLang="tr-TR" dirty="0">
                <a:solidFill>
                  <a:srgbClr val="FF0000"/>
                </a:solidFill>
              </a:rPr>
              <a:t>Class attendance is mandatory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Evaluation : %40 midterm + %60 (+Alpha) final exam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C6FF60A-B15C-42EE-B9B6-E9FA22716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0588" y="30480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tr-TR" b="1"/>
              <a:t>Benefits of Attending Class</a:t>
            </a:r>
            <a:br>
              <a:rPr lang="en-US" altLang="tr-TR" b="1"/>
            </a:br>
            <a:endParaRPr lang="tr-TR" altLang="tr-TR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994F0252-A4BC-4EFB-92E4-DA45687CBE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30363"/>
            <a:ext cx="11277600" cy="5105400"/>
          </a:xfrm>
        </p:spPr>
        <p:txBody>
          <a:bodyPr/>
          <a:lstStyle/>
          <a:p>
            <a:pPr eaLnBrk="1" hangingPunct="1"/>
            <a:r>
              <a:rPr lang="en-US" altLang="tr-TR" sz="2400" dirty="0"/>
              <a:t>Lectures and classes supplement reading assignments.</a:t>
            </a:r>
          </a:p>
          <a:p>
            <a:pPr eaLnBrk="1" hangingPunct="1"/>
            <a:r>
              <a:rPr lang="en-US" altLang="tr-TR" sz="2400" dirty="0"/>
              <a:t>Lecturers often use questions or class discussion </a:t>
            </a:r>
            <a:r>
              <a:rPr lang="en-US" altLang="tr-TR" sz="2400" b="1" dirty="0"/>
              <a:t>to enhance critical thinking skills</a:t>
            </a:r>
            <a:r>
              <a:rPr lang="en-US" altLang="tr-TR" sz="2400" dirty="0"/>
              <a:t>. 	</a:t>
            </a:r>
          </a:p>
          <a:p>
            <a:pPr eaLnBrk="1" hangingPunct="1"/>
            <a:r>
              <a:rPr lang="en-US" altLang="tr-TR" sz="2400" dirty="0"/>
              <a:t>If you pay attention in class, you may be surprised by how much you can cut your study time later. </a:t>
            </a:r>
          </a:p>
          <a:p>
            <a:pPr eaLnBrk="1" hangingPunct="1"/>
            <a:r>
              <a:rPr lang="en-US" altLang="tr-TR" sz="2400" dirty="0"/>
              <a:t>Your teacher will emphasize the important concepts, giving you a better idea of what is important and what you should focus on.</a:t>
            </a:r>
          </a:p>
          <a:p>
            <a:pPr eaLnBrk="1" hangingPunct="1"/>
            <a:r>
              <a:rPr lang="en-US" altLang="tr-TR" sz="2400" dirty="0"/>
              <a:t>Your teacher will emphasize the important concepts, giving you a better idea of what is important and what you should focus on idea </a:t>
            </a:r>
          </a:p>
          <a:p>
            <a:pPr eaLnBrk="1" hangingPunct="1"/>
            <a:r>
              <a:rPr lang="en-US" altLang="tr-TR" sz="2400" b="1" dirty="0"/>
              <a:t>Some teachers are not very textbook oriented. (This is me btw)</a:t>
            </a:r>
          </a:p>
          <a:p>
            <a:pPr eaLnBrk="1" hangingPunct="1"/>
            <a:r>
              <a:rPr lang="en-US" altLang="tr-TR" sz="2400" dirty="0"/>
              <a:t>Classes give you more interaction with the teacher and other students in the class</a:t>
            </a:r>
          </a:p>
          <a:p>
            <a:pPr eaLnBrk="1" hangingPunct="1"/>
            <a:r>
              <a:rPr lang="en-US" altLang="tr-TR" sz="2400" dirty="0"/>
              <a:t>Taking your own notes during a class is more useful than getting a copy of someone else's notes</a:t>
            </a:r>
            <a:endParaRPr lang="tr-TR" altLang="tr-TR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8FF3A4A-D519-49F1-926B-864A5C41D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Table of Contents : Week 1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F0E8216-AA59-4006-A0FD-A0482713E9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dirty="0"/>
              <a:t>Items needed</a:t>
            </a:r>
          </a:p>
          <a:p>
            <a:pPr eaLnBrk="1" hangingPunct="1"/>
            <a:r>
              <a:rPr lang="en-US" altLang="en-US" dirty="0"/>
              <a:t>C# vs Java</a:t>
            </a:r>
          </a:p>
          <a:p>
            <a:pPr eaLnBrk="1" hangingPunct="1"/>
            <a:r>
              <a:rPr lang="en-US" altLang="en-US" dirty="0"/>
              <a:t>OOP concepts</a:t>
            </a:r>
          </a:p>
          <a:p>
            <a:pPr lvl="1"/>
            <a:r>
              <a:rPr lang="en-US" altLang="en-US" dirty="0"/>
              <a:t>Classes and objects</a:t>
            </a:r>
          </a:p>
          <a:p>
            <a:pPr lvl="1"/>
            <a:r>
              <a:rPr lang="en-US" altLang="en-US" dirty="0"/>
              <a:t>Encapsulation</a:t>
            </a:r>
          </a:p>
          <a:p>
            <a:pPr lvl="1"/>
            <a:r>
              <a:rPr lang="en-US" altLang="en-US" dirty="0"/>
              <a:t>Inheritance</a:t>
            </a:r>
          </a:p>
          <a:p>
            <a:pPr lvl="1"/>
            <a:r>
              <a:rPr lang="en-US" altLang="en-US" dirty="0"/>
              <a:t>Polymorphism</a:t>
            </a:r>
          </a:p>
          <a:p>
            <a:pPr lvl="1"/>
            <a:r>
              <a:rPr lang="en-US" altLang="en-US" dirty="0"/>
              <a:t>Abstraction</a:t>
            </a:r>
          </a:p>
          <a:p>
            <a:pPr lvl="1"/>
            <a:r>
              <a:rPr lang="en-US" altLang="en-US" dirty="0"/>
              <a:t>Interface</a:t>
            </a:r>
          </a:p>
          <a:p>
            <a:r>
              <a:rPr lang="en-US" altLang="en-US" dirty="0"/>
              <a:t>Others</a:t>
            </a:r>
          </a:p>
          <a:p>
            <a:pPr lvl="1"/>
            <a:r>
              <a:rPr lang="en-US" altLang="en-US" dirty="0"/>
              <a:t>arrays</a:t>
            </a:r>
          </a:p>
          <a:p>
            <a:pPr lvl="1"/>
            <a:r>
              <a:rPr lang="en-US" altLang="en-US" dirty="0"/>
              <a:t>Lists</a:t>
            </a:r>
          </a:p>
          <a:p>
            <a:pPr lvl="1"/>
            <a:r>
              <a:rPr lang="en-US" altLang="en-US" dirty="0" err="1"/>
              <a:t>Enum</a:t>
            </a:r>
            <a:endParaRPr lang="en-US" altLang="en-US" dirty="0"/>
          </a:p>
          <a:p>
            <a:pPr lvl="1"/>
            <a:r>
              <a:rPr lang="en-US" altLang="en-US" dirty="0"/>
              <a:t>Variables, conditional </a:t>
            </a:r>
            <a:r>
              <a:rPr lang="en-US" altLang="en-US" dirty="0" err="1"/>
              <a:t>stataments</a:t>
            </a:r>
            <a:r>
              <a:rPr lang="en-US" altLang="en-US" dirty="0"/>
              <a:t>, loops, methods…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79B0-FA31-44CF-93B9-EC98B379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Items needed for Game Programming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2469-A83E-43FE-94A1-FBE6C38D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and working PC/Mac (This is vital!)</a:t>
            </a:r>
          </a:p>
          <a:p>
            <a:endParaRPr lang="en-US" dirty="0"/>
          </a:p>
          <a:p>
            <a:r>
              <a:rPr lang="en-US" dirty="0"/>
              <a:t>Unity 2018.3.0 or later</a:t>
            </a:r>
          </a:p>
          <a:p>
            <a:endParaRPr lang="en-US" dirty="0"/>
          </a:p>
          <a:p>
            <a:r>
              <a:rPr lang="en-US" dirty="0"/>
              <a:t>Visual Studio Community</a:t>
            </a:r>
          </a:p>
          <a:p>
            <a:endParaRPr lang="en-US" b="1" dirty="0"/>
          </a:p>
          <a:p>
            <a:r>
              <a:rPr lang="en-US" b="1" dirty="0"/>
              <a:t>Adequately knowledge of OOP in Java/C# </a:t>
            </a:r>
          </a:p>
          <a:p>
            <a:pPr lvl="1"/>
            <a:r>
              <a:rPr lang="en-US" b="1" dirty="0"/>
              <a:t>(C# is like Java; we will use it to script)</a:t>
            </a:r>
          </a:p>
          <a:p>
            <a:endParaRPr lang="en-US" dirty="0"/>
          </a:p>
          <a:p>
            <a:endParaRPr lang="tr-T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847B45D-EE9B-4B34-80CB-A60F5AABA879}"/>
              </a:ext>
            </a:extLst>
          </p:cNvPr>
          <p:cNvSpPr/>
          <p:nvPr/>
        </p:nvSpPr>
        <p:spPr>
          <a:xfrm flipH="1">
            <a:off x="7850222" y="4503906"/>
            <a:ext cx="3832698" cy="150778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3600" dirty="0"/>
              <a:t>Lets focus on this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7006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233FF2-04D6-45CA-9ABB-D1D352117292}"/>
              </a:ext>
            </a:extLst>
          </p:cNvPr>
          <p:cNvSpPr/>
          <p:nvPr/>
        </p:nvSpPr>
        <p:spPr>
          <a:xfrm>
            <a:off x="1269507" y="790113"/>
            <a:ext cx="9925235" cy="5903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5B43C0-DEAC-47D7-B483-CBD021664265}"/>
              </a:ext>
            </a:extLst>
          </p:cNvPr>
          <p:cNvSpPr/>
          <p:nvPr/>
        </p:nvSpPr>
        <p:spPr>
          <a:xfrm>
            <a:off x="1811045" y="1207363"/>
            <a:ext cx="4421079" cy="5149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Animal c1</a:t>
            </a:r>
            <a:endParaRPr lang="tr-T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07DC7C-AC13-48DE-AEBA-1CF294BF0B2A}"/>
              </a:ext>
            </a:extLst>
          </p:cNvPr>
          <p:cNvSpPr/>
          <p:nvPr/>
        </p:nvSpPr>
        <p:spPr>
          <a:xfrm>
            <a:off x="6426693" y="1207363"/>
            <a:ext cx="4421079" cy="5149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ED7C7-68D5-49B5-B120-77D8BD8FADFB}"/>
              </a:ext>
            </a:extLst>
          </p:cNvPr>
          <p:cNvSpPr/>
          <p:nvPr/>
        </p:nvSpPr>
        <p:spPr>
          <a:xfrm>
            <a:off x="2770239" y="132256"/>
            <a:ext cx="6136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Animal c1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Cat(12,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"cat1"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"middle east"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A0DD3-560B-458B-99FC-DAFD98E47A47}"/>
              </a:ext>
            </a:extLst>
          </p:cNvPr>
          <p:cNvSpPr txBox="1"/>
          <p:nvPr/>
        </p:nvSpPr>
        <p:spPr>
          <a:xfrm>
            <a:off x="7519385" y="2077375"/>
            <a:ext cx="286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Cat()</a:t>
            </a:r>
            <a:endParaRPr lang="tr-TR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0B3191-842A-4C08-B48E-704058F2ABF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572000" y="3790765"/>
            <a:ext cx="2990294" cy="1846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C669B9-01EF-4A65-9389-38A521FFD65F}"/>
              </a:ext>
            </a:extLst>
          </p:cNvPr>
          <p:cNvSpPr txBox="1"/>
          <p:nvPr/>
        </p:nvSpPr>
        <p:spPr>
          <a:xfrm>
            <a:off x="7562294" y="3790765"/>
            <a:ext cx="2861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Monster()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639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5D5C-33BA-4BA9-BAEC-127A62CD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vs Java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C08D-69E7-4E6C-A77A-55E6E19F3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if you know Java, you know C# too.</a:t>
            </a:r>
          </a:p>
          <a:p>
            <a:r>
              <a:rPr lang="en-US" dirty="0"/>
              <a:t>Let's show differences and similarities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32516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E59C-BF12-4291-BFFD-B47F9C37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Visual Studio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E7B1-1F85-4462-8FFD-2396938C8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713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71E6-C5BB-4D7B-869E-28757BAC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7D43-58F3-4BF9-B5F3-5DA6E635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What is Object-Oriented Programming?</a:t>
            </a:r>
          </a:p>
          <a:p>
            <a:pPr lvl="1"/>
            <a:r>
              <a:rPr lang="en-US" sz="2800" dirty="0"/>
              <a:t>OOP is a paradigm where a problem is modelled as a collection of interacting </a:t>
            </a:r>
            <a:r>
              <a:rPr lang="en-US" sz="2800" i="1" dirty="0"/>
              <a:t>objects</a:t>
            </a:r>
            <a:r>
              <a:rPr lang="en-US" sz="2800" dirty="0"/>
              <a:t>. </a:t>
            </a:r>
            <a:r>
              <a:rPr lang="en-US" sz="2800" i="1" dirty="0"/>
              <a:t>objects </a:t>
            </a:r>
            <a:r>
              <a:rPr lang="en-US" sz="2800" dirty="0"/>
              <a:t>send </a:t>
            </a:r>
            <a:r>
              <a:rPr lang="en-US" sz="2800" i="1" dirty="0"/>
              <a:t>messages</a:t>
            </a:r>
            <a:r>
              <a:rPr lang="en-US" sz="2800" dirty="0"/>
              <a:t> to each other.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77477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74F9-2B1E-4FAC-83AE-248FF60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Principles -1/2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2F39-53CF-446E-AAE3-04A17BCE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Encapsulation (set/get) </a:t>
            </a:r>
          </a:p>
          <a:p>
            <a:pPr lvl="1"/>
            <a:r>
              <a:rPr lang="en-US" sz="2800" dirty="0"/>
              <a:t>This is the practice of keeping fields within a class private, then providing access to them via public methods. </a:t>
            </a:r>
            <a:r>
              <a:rPr lang="en-US" sz="2800" i="1" dirty="0"/>
              <a:t>It’s a protective barrier that keeps the data and code safe within the class itself. </a:t>
            </a:r>
          </a:p>
          <a:p>
            <a:r>
              <a:rPr lang="en-US" sz="3200" b="1" dirty="0"/>
              <a:t>Inheritance (parent/child relation). </a:t>
            </a:r>
          </a:p>
          <a:p>
            <a:pPr lvl="1"/>
            <a:r>
              <a:rPr lang="en-US" sz="2800" dirty="0"/>
              <a:t>It lets programmers create new classes that </a:t>
            </a:r>
            <a:r>
              <a:rPr lang="en-US" sz="2800" u="sng" dirty="0"/>
              <a:t>share some of the attributes</a:t>
            </a:r>
            <a:r>
              <a:rPr lang="en-US" sz="2800" dirty="0"/>
              <a:t> of existing (base) classes. This lets us build on previous work without reinventing the wheel.</a:t>
            </a:r>
          </a:p>
          <a:p>
            <a:endParaRPr lang="en-US" sz="3200" dirty="0"/>
          </a:p>
          <a:p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187069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0DD7-60E6-4C94-99B1-485A48D1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Principles -2/2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8428-62DF-42A3-AF63-9283B91F8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Polymorphism. </a:t>
            </a:r>
            <a:r>
              <a:rPr lang="en-US" sz="3200" dirty="0"/>
              <a:t>This lets programmers use the same word to mean different things in different contexts. </a:t>
            </a:r>
          </a:p>
          <a:p>
            <a:pPr lvl="1"/>
            <a:r>
              <a:rPr lang="en-US" sz="2800" dirty="0"/>
              <a:t>One form of polymorphism is </a:t>
            </a:r>
            <a:r>
              <a:rPr lang="en-US" sz="2800" b="1" dirty="0"/>
              <a:t>method overloading</a:t>
            </a:r>
            <a:r>
              <a:rPr lang="en-US" sz="2800" dirty="0"/>
              <a:t>. That’s when different meanings are implied by the code itself. </a:t>
            </a:r>
          </a:p>
          <a:p>
            <a:pPr lvl="1"/>
            <a:r>
              <a:rPr lang="en-US" sz="2800" dirty="0"/>
              <a:t>The other form is </a:t>
            </a:r>
            <a:r>
              <a:rPr lang="en-US" sz="2800" b="1" dirty="0"/>
              <a:t>method overriding</a:t>
            </a:r>
            <a:r>
              <a:rPr lang="en-US" sz="2800" dirty="0"/>
              <a:t>. That’s when the different meanings are implied by the values of the supplied variables. See more on this below.</a:t>
            </a:r>
          </a:p>
          <a:p>
            <a:r>
              <a:rPr lang="en-US" sz="3200" b="1" dirty="0"/>
              <a:t>Abstraction.</a:t>
            </a:r>
            <a:r>
              <a:rPr lang="en-US" sz="3200" dirty="0"/>
              <a:t> </a:t>
            </a:r>
          </a:p>
          <a:p>
            <a:pPr lvl="1"/>
            <a:r>
              <a:rPr lang="en-US" sz="2800" dirty="0"/>
              <a:t>Abstraction means simple things like </a:t>
            </a:r>
            <a:r>
              <a:rPr lang="en-US" sz="2800" b="1" dirty="0"/>
              <a:t>objects</a:t>
            </a:r>
            <a:r>
              <a:rPr lang="en-US" sz="2800" dirty="0"/>
              <a:t>, </a:t>
            </a:r>
            <a:r>
              <a:rPr lang="en-US" sz="2800" b="1" dirty="0"/>
              <a:t>classes</a:t>
            </a:r>
            <a:r>
              <a:rPr lang="en-US" sz="2800" dirty="0"/>
              <a:t>, and </a:t>
            </a:r>
            <a:r>
              <a:rPr lang="en-US" sz="2800" b="1" dirty="0"/>
              <a:t>variables</a:t>
            </a:r>
            <a:r>
              <a:rPr lang="en-US" sz="2800" dirty="0"/>
              <a:t> represent more complex underlying code and data. This is important because it lets avoid repeating the same work multiple times.</a:t>
            </a:r>
          </a:p>
          <a:p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982640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D33B-DE68-4935-A3DB-B0788CE1F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5183"/>
            <a:ext cx="10515600" cy="3861780"/>
          </a:xfrm>
        </p:spPr>
        <p:txBody>
          <a:bodyPr>
            <a:normAutofit/>
          </a:bodyPr>
          <a:lstStyle/>
          <a:p>
            <a:r>
              <a:rPr lang="en-US" sz="4800" dirty="0"/>
              <a:t>Let’s overview these principles in C#</a:t>
            </a:r>
            <a:endParaRPr lang="tr-TR" sz="4800" dirty="0"/>
          </a:p>
        </p:txBody>
      </p:sp>
    </p:spTree>
    <p:extLst>
      <p:ext uri="{BB962C8B-B14F-4D97-AF65-F5344CB8AC3E}">
        <p14:creationId xmlns:p14="http://schemas.microsoft.com/office/powerpoint/2010/main" val="76679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1667</TotalTime>
  <Words>759</Words>
  <Application>Microsoft Office PowerPoint</Application>
  <PresentationFormat>Widescreen</PresentationFormat>
  <Paragraphs>94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Game programming Introduction to C# for Game Programming</vt:lpstr>
      <vt:lpstr>Lectures By Week</vt:lpstr>
      <vt:lpstr>Game programming</vt:lpstr>
      <vt:lpstr>Course Educational Objectives: </vt:lpstr>
      <vt:lpstr>Course Outcomes:</vt:lpstr>
      <vt:lpstr>Course Overview</vt:lpstr>
      <vt:lpstr>Benefits of Attending Class </vt:lpstr>
      <vt:lpstr>Table of Contents : Week 1</vt:lpstr>
      <vt:lpstr>Items needed for Game Programming</vt:lpstr>
      <vt:lpstr>PowerPoint Presentation</vt:lpstr>
      <vt:lpstr>C# vs Java</vt:lpstr>
      <vt:lpstr>Go to Visual Studio</vt:lpstr>
      <vt:lpstr>OOP</vt:lpstr>
      <vt:lpstr>OOP Principles -1/2</vt:lpstr>
      <vt:lpstr>OOP Principles -2/2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</dc:title>
  <dc:creator>kasim o</dc:creator>
  <cp:lastModifiedBy>Kasım ÖZACAR</cp:lastModifiedBy>
  <cp:revision>23</cp:revision>
  <dcterms:created xsi:type="dcterms:W3CDTF">2019-02-10T21:27:02Z</dcterms:created>
  <dcterms:modified xsi:type="dcterms:W3CDTF">2026-02-19T11:32:09Z</dcterms:modified>
</cp:coreProperties>
</file>